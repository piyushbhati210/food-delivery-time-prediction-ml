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4"/>
    <p:sldId id="271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070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E8520A">
              <a:alpha val="22000"/>
            </a:srgbClr>
          </a:solidFill>
          <a:ln w="12700">
            <a:solidFill>
              <a:srgbClr val="E8520A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566160"/>
            <a:ext cx="2011680" cy="201168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66928"/>
            <a:ext cx="1920240" cy="329184"/>
          </a:xfrm>
          <a:prstGeom prst="rect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ML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Delivery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Prediction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Linear Regression  ·  Decision Tree  ·  Random Forest  ·  XGBoost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474720"/>
            <a:ext cx="1965960" cy="868680"/>
          </a:xfrm>
          <a:prstGeom prst="rect">
            <a:avLst/>
          </a:prstGeom>
          <a:solidFill>
            <a:srgbClr val="0F3460"/>
          </a:solidFill>
          <a:ln w="19050">
            <a:solidFill>
              <a:srgbClr val="E852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9300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20A"/>
                </a:solidFill>
              </a:rPr>
              <a:t>45,593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39136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Train Records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3474720"/>
            <a:ext cx="1965960" cy="868680"/>
          </a:xfrm>
          <a:prstGeom prst="rect">
            <a:avLst/>
          </a:prstGeom>
          <a:solidFill>
            <a:srgbClr val="0F3460"/>
          </a:solidFill>
          <a:ln w="19050">
            <a:solidFill>
              <a:srgbClr val="E85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349300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20A"/>
                </a:solidFill>
              </a:rPr>
              <a:t>12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06040" y="39136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3474720"/>
            <a:ext cx="1965960" cy="868680"/>
          </a:xfrm>
          <a:prstGeom prst="rect">
            <a:avLst/>
          </a:prstGeom>
          <a:solidFill>
            <a:srgbClr val="0F3460"/>
          </a:solidFill>
          <a:ln w="19050">
            <a:solidFill>
              <a:srgbClr val="E85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49300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20A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39136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Models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3474720"/>
            <a:ext cx="1965960" cy="868680"/>
          </a:xfrm>
          <a:prstGeom prst="rect">
            <a:avLst/>
          </a:prstGeom>
          <a:solidFill>
            <a:srgbClr val="0F3460"/>
          </a:solidFill>
          <a:ln w="19050">
            <a:solidFill>
              <a:srgbClr val="E85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349300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20A"/>
                </a:solidFill>
              </a:rPr>
              <a:t>0.8195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391363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Best R²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</a:rPr>
              <a:t>⚠️  The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384048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7218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  Late = Unhappy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196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Customers lose trust when food is late. Satisfaction drops immediately.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384048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6946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📉 High ETA = Lost Orders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9169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Overestimating time makes users abandon before placing orders.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6667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0142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854964"/>
            <a:ext cx="420624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480060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E8520A"/>
                </a:solidFill>
              </a:rPr>
              <a:t>🎯  Project Goal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4173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143560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165506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07568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209397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31343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12080" y="275234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97180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339242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341071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63016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405079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406908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42885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802FFC-B3B7-213B-F823-727B90C33274}"/>
              </a:ext>
            </a:extLst>
          </p:cNvPr>
          <p:cNvSpPr txBox="1"/>
          <p:nvPr/>
        </p:nvSpPr>
        <p:spPr>
          <a:xfrm flipH="1">
            <a:off x="4974335" y="1459667"/>
            <a:ext cx="3345206" cy="212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</a:rPr>
              <a:t>Build a supervised machine learning regression model that accurately predicts food delivery time (in minutes) based on:</a:t>
            </a:r>
            <a:endParaRPr lang="en-US" sz="1100" dirty="0"/>
          </a:p>
          <a:p>
            <a:pPr>
              <a:lnSpc>
                <a:spcPct val="130000"/>
              </a:lnSpc>
            </a:pPr>
            <a:endParaRPr lang="en-US" sz="11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</a:rPr>
              <a:t>• Delivery agent information</a:t>
            </a:r>
            <a:endParaRPr lang="en-US" sz="11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</a:rPr>
              <a:t>• Road &amp; traffic conditions</a:t>
            </a:r>
            <a:endParaRPr lang="en-US" sz="11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</a:rPr>
              <a:t>• Environmental / weather factors</a:t>
            </a:r>
            <a:endParaRPr lang="en-US" sz="11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</a:rPr>
              <a:t>• Order characteristics</a:t>
            </a:r>
            <a:endParaRPr lang="en-US" sz="11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411480"/>
          </a:xfrm>
          <a:prstGeom prst="rect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EDA &amp; Preprocessing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8288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Perform exploratory data analysis and clean real-world delivery dataset.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05840"/>
            <a:ext cx="2651760" cy="411480"/>
          </a:xfrm>
          <a:prstGeom prst="rect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64408" y="14630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8288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Create meaningful features like GPS-based haversine distance.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005840"/>
            <a:ext cx="2651760" cy="411480"/>
          </a:xfrm>
          <a:prstGeom prst="rect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9048" y="14630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Train 4 Models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9048" y="18288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Linear Regression, Decision Tree, Random Forest, and XGBoost.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26080"/>
            <a:ext cx="2651760" cy="411480"/>
          </a:xfrm>
          <a:prstGeom prst="rect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26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9768" y="33832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Evaluate &amp; Compare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37490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Compare model performance using MAE, RMSE, and R² score.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29260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926080"/>
            <a:ext cx="2651760" cy="411480"/>
          </a:xfrm>
          <a:prstGeom prst="rect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2926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64408" y="33832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Best Model Prediction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64408" y="37490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Use the best-performing model to predict delivery time on test data.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Description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822960"/>
          </a:xfrm>
          <a:prstGeom prst="rect">
            <a:avLst/>
          </a:prstGeom>
          <a:solidFill>
            <a:srgbClr val="1A1A2E"/>
          </a:solidFill>
          <a:ln w="19050">
            <a:solidFill>
              <a:srgbClr val="E852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326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20A"/>
                </a:solidFill>
              </a:rPr>
              <a:t>Kaggle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34416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Source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65960" cy="822960"/>
          </a:xfrm>
          <a:prstGeom prst="rect">
            <a:avLst/>
          </a:prstGeom>
          <a:solidFill>
            <a:srgbClr val="1A1A2E"/>
          </a:solidFill>
          <a:ln w="19050">
            <a:solidFill>
              <a:srgbClr val="E85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9326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20A"/>
                </a:solidFill>
              </a:rPr>
              <a:t>~45,000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68880" y="134416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Train Records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1965960" cy="822960"/>
          </a:xfrm>
          <a:prstGeom prst="rect">
            <a:avLst/>
          </a:prstGeom>
          <a:solidFill>
            <a:srgbClr val="1A1A2E"/>
          </a:solidFill>
          <a:ln w="19050">
            <a:solidFill>
              <a:srgbClr val="E85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9326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20A"/>
                </a:solidFill>
              </a:rPr>
              <a:t>~11,000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134416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Test Records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965960" cy="822960"/>
          </a:xfrm>
          <a:prstGeom prst="rect">
            <a:avLst/>
          </a:prstGeom>
          <a:solidFill>
            <a:srgbClr val="1A1A2E"/>
          </a:solidFill>
          <a:ln w="19050">
            <a:solidFill>
              <a:srgbClr val="E85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9326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20A"/>
                </a:solidFill>
              </a:rPr>
              <a:t>12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0" y="134416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Features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1920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Selected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" y="233172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Delivery_person_Age — Agent age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Delivery_person_Ratings — Customer rating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distance_km — GPS Haversine distance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order_hour — Hour extracted from timestamp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Vehicle_condition — Vehicle score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multiple_deliveries — Handling multiple orders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Weather, Traffic, Order type, Vehicle, Festival, City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920241"/>
            <a:ext cx="4114800" cy="2971800"/>
          </a:xfrm>
          <a:prstGeom prst="rect">
            <a:avLst/>
          </a:prstGeom>
          <a:solidFill>
            <a:srgbClr val="0F3460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🎯  Target Variable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423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Time_taken(min)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00600" y="2880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Delivery duration in minutes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246120"/>
            <a:ext cx="3566160" cy="0"/>
          </a:xfrm>
          <a:prstGeom prst="line">
            <a:avLst/>
          </a:prstGeom>
          <a:noFill/>
          <a:ln w="12700">
            <a:solidFill>
              <a:srgbClr val="334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Train / Validation Split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36393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80% Training  (~36,000 samples)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8953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20% Validation  (~9,000 samples)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41696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random_state = 42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872"/>
            <a:ext cx="91440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6940" y="16302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1 — Data Preprocessing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38978" y="5715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520A"/>
                </a:solidFill>
              </a:rPr>
              <a:t>Cleaning raw Kaggle data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7804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</a:rPr>
              <a:t>Raw data had quality issues — strings instead of numbers, hidden spaces, missing values. 5 steps fixed it.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63040" y="1197864"/>
            <a:ext cx="16916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1197864"/>
            <a:ext cx="169164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17904" y="11978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 Strip Whitespace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536192" y="1563624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560"/>
                </a:solidFill>
              </a:rPr>
              <a:t>Problem: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36192" y="1719072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Columns had hidden spaces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e.g. '  Sunny  ' not 'Sunny'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36192" y="2112264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</a:rPr>
              <a:t>Fix: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36192" y="2267712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</a:rPr>
              <a:t>str.strip() on ALL string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</a:rPr>
              <a:t>columns in train &amp; test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17904" y="2679192"/>
            <a:ext cx="1581912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36192" y="2679192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= col.str.strip()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64408" y="1197864"/>
            <a:ext cx="16916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1197864"/>
            <a:ext cx="1691640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11978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 Fix Target Column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1563624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560"/>
                </a:solidFill>
              </a:rPr>
              <a:t>Problem: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1719072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Target was a string: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'(min) 24' — can't train on text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37560" y="2112264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</a:rPr>
              <a:t>Fix: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37560" y="2267712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</a:rPr>
              <a:t>Regex extracts the number: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</a:rPr>
              <a:t>'(min) 24'  →  24.0 (float)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19272" y="2679192"/>
            <a:ext cx="1581912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679192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.str.extract(r'(\d+)').astype(float)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65776" y="1197864"/>
            <a:ext cx="16916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65776" y="1197864"/>
            <a:ext cx="1691640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11978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 Fill Missing Values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38928" y="1563624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560"/>
                </a:solidFill>
              </a:rPr>
              <a:t>Problem: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38928" y="1719072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Age, Ratings, multiple_deliveries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had NaN or string 'NaN'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38928" y="2112264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</a:rPr>
              <a:t>Fix: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38928" y="2267712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</a:rPr>
              <a:t>Age → 30  |  Ratings → 4.5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</a:rPr>
              <a:t>multiple_deliveries → 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20640" y="2679192"/>
            <a:ext cx="1581912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2679192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pd.to_numeric(...).fillna(30)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737360" y="2971800"/>
            <a:ext cx="25146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20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737360" y="2971800"/>
            <a:ext cx="2514600" cy="329184"/>
          </a:xfrm>
          <a:prstGeom prst="rect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92224" y="29718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 Label Encoding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337560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560"/>
                </a:solidFill>
              </a:rPr>
              <a:t>Problem: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810512" y="3493008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6 text columns (Weather, Traffic,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City…) — models need numbers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810512" y="3886200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520A"/>
                </a:solidFill>
              </a:rPr>
              <a:t>Fix: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10512" y="4041648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</a:rPr>
              <a:t>LabelEncoder fitted on train+test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</a:rPr>
              <a:t>COMBINED — no unseen labels at test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792224" y="4453128"/>
            <a:ext cx="2404872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10512" y="4453128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le.fit(concat([train,test]))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= le.transform(col)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0" y="2971800"/>
            <a:ext cx="25146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2971800"/>
            <a:ext cx="2514600" cy="32918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26864" y="29718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05 StandardScaler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645152" y="3337560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94560"/>
                </a:solidFill>
              </a:rPr>
              <a:t>Problem: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45152" y="3493008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Linear Regression is sensitive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</a:rPr>
              <a:t>to scale (Age 25 vs km 12000)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45152" y="3886200"/>
            <a:ext cx="23865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55F7"/>
                </a:solidFill>
              </a:rPr>
              <a:t>Fix: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645152" y="4041648"/>
            <a:ext cx="2386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</a:rPr>
              <a:t>Scale ONLY for Linear Regression.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</a:rPr>
              <a:t>Tree models are scale-invariant.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26864" y="4453128"/>
            <a:ext cx="2404872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5152" y="4453128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 = scaler.fit_transform(X)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 used for tree models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863840" y="12893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927848" y="167335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915400" y="16733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Kaggle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183880" y="216027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915400" y="20939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45,593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927848" y="2514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915400" y="2514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11,399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927848" y="293522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915400" y="293522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12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927848" y="33558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915400" y="33558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Time_taken(min)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927848" y="37764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915400" y="37764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80% / 20%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927848" y="419709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915400" y="419709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random_state=42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2 — Feature Engineering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520A"/>
                </a:solidFill>
              </a:rPr>
              <a:t>2 new columns built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</a:rPr>
              <a:t>Raw data had GPS coordinates and timestamps but no distance or time values. We engineered 2 new columns from scratch.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8641080" cy="1773936"/>
          </a:xfrm>
          <a:prstGeom prst="rect">
            <a:avLst/>
          </a:prstGeom>
          <a:solidFill>
            <a:srgbClr val="FFFFFF"/>
          </a:solidFill>
          <a:ln w="31750">
            <a:solidFill>
              <a:srgbClr val="E8520A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07008"/>
            <a:ext cx="8641080" cy="365760"/>
          </a:xfrm>
          <a:prstGeom prst="rect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070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 1 — distance_km  (Haversine Formula)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664208"/>
            <a:ext cx="2331720" cy="1234440"/>
          </a:xfrm>
          <a:prstGeom prst="rect">
            <a:avLst/>
          </a:prstGeom>
          <a:solidFill>
            <a:srgbClr val="FFF1F2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82496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4560"/>
                </a:solidFill>
              </a:rPr>
              <a:t>Why needed?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911096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Raw data had 4 GPS columns (restaurant lat/lon + delivery lat/lon). ML models cannot use raw coordinates — they need real-world distance in km.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52928" y="1664208"/>
            <a:ext cx="3520440" cy="1234440"/>
          </a:xfrm>
          <a:prstGeom prst="rect">
            <a:avLst/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682496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</a:rPr>
              <a:t>Haversine formula: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71800" y="1901952"/>
            <a:ext cx="3273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6371 km (Earth radius)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sin2(dlat/2) + cos(lat1)*cos(lat2)*sin2(dlon/2)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2R * arctan2(sqrta, sqrt(1-a))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train['distance_km'] = train.apply(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lambda x: haversine(lat1,lon1,lat2,lon2), axis=1)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510528" y="1664208"/>
            <a:ext cx="2286000" cy="1234440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68249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</a:rPr>
              <a:t>Result: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29400" y="1901952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New column: distance_km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Added to train AND test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Example: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Restaurant(12.9N,77.6E)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Delivery (13.1N,77.7E)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-&gt; distance = 24.3 km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8641080" cy="1773936"/>
          </a:xfrm>
          <a:prstGeom prst="rect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90672"/>
            <a:ext cx="864108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90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 2 — order_hour  (Timestamp Extraction)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" y="3547872"/>
            <a:ext cx="2331720" cy="1234440"/>
          </a:xfrm>
          <a:prstGeom prst="rect">
            <a:avLst/>
          </a:prstGeom>
          <a:solidFill>
            <a:srgbClr val="FFF1F2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66160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4560"/>
                </a:solidFill>
              </a:rPr>
              <a:t>Why needed?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785616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'Time_Orderd' was a string: '14:30'. Models need numbers. Hour (0-23) lets the model learn morning/lunch/dinner rush-hour patterns.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52928" y="3547872"/>
            <a:ext cx="3520440" cy="123444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3566160"/>
            <a:ext cx="3273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</a:rPr>
              <a:t>Code: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71800" y="3785616"/>
            <a:ext cx="3273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df['order_hour'] = pd.to_datetime(</a:t>
            </a:r>
            <a:endParaRPr lang="en-US" sz="78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df['Time_Orderd'], format='%H:%M',</a:t>
            </a:r>
            <a:endParaRPr lang="en-US" sz="78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errors='coerce'</a:t>
            </a:r>
            <a:endParaRPr lang="en-US" sz="78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).dt.hour.fillna(12)</a:t>
            </a:r>
            <a:endParaRPr lang="en-US" sz="78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errors-&gt;NaT for bad strings</a:t>
            </a:r>
            <a:endParaRPr lang="en-US" sz="78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fillna(12) = noon default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510528" y="3547872"/>
            <a:ext cx="2286000" cy="123444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56616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</a:rPr>
              <a:t>Examples: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29400" y="3785616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'08:15' -&gt; 8   (morning)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'13:30' -&gt; 13  (lunch)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'19:45' -&gt; 19  (dinner)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'NaN'  -&gt; 12  (noon)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Captures rush-hour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slowdown patterns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Graph 1 — Target Variable: Delivery Time Distribution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520A"/>
                </a:solidFill>
              </a:rPr>
              <a:t>EDA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658368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95160" y="804672"/>
            <a:ext cx="1920240" cy="3108960"/>
          </a:xfrm>
          <a:prstGeom prst="rect">
            <a:avLst/>
          </a:prstGeom>
          <a:solidFill>
            <a:srgbClr val="1A1A2E"/>
          </a:solidFill>
          <a:ln w="19050">
            <a:solidFill>
              <a:srgbClr val="E8520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86600" y="87782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20A"/>
                </a:solidFill>
              </a:rPr>
              <a:t>📌 Insights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86600" y="12618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4B8A6"/>
                </a:solidFill>
              </a:rPr>
              <a:t>• Mean = 26.3 min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086600" y="16459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ACC15"/>
                </a:solidFill>
              </a:rPr>
              <a:t>• Median = 26.0 min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086600" y="20299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Range: 10–54 min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86600" y="241401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Near-normal dist.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086600" y="27980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Few outliers (&gt;50)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086600" y="3182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2C55E"/>
                </a:solidFill>
              </a:rPr>
              <a:t>• Mean ≈ Median → no heavy skew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74320" y="3968496"/>
            <a:ext cx="8641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What this tells us: Delivery times cluster between 20–35 min. The symmetric shape means linear and tree models can learn the pattern well.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Graph 2 — Distance &amp; Traffic vs Delivery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520A"/>
                </a:solidFill>
              </a:rPr>
              <a:t>EDA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6583680" cy="3063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95160" y="804672"/>
            <a:ext cx="1920240" cy="3063240"/>
          </a:xfrm>
          <a:prstGeom prst="rect">
            <a:avLst/>
          </a:prstGeom>
          <a:solidFill>
            <a:srgbClr val="1A1A2E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86600" y="87782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📌 Insights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86600" y="12618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</a:rPr>
              <a:t>• Low traffic: 21.3 min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086600" y="16459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ACC15"/>
                </a:solidFill>
              </a:rPr>
              <a:t>• Medium:  26.7 min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086600" y="20299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4560"/>
                </a:solidFill>
              </a:rPr>
              <a:t>• High:  31.2 min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86600" y="241401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</a:rPr>
              <a:t>• Jam:  27.2 min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086600" y="27980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Traffic = key predictor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086600" y="3182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Distance data has outliers (GPS scale issue)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74320" y="3922776"/>
            <a:ext cx="8641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Traffic density clearly impacts delivery time. 'High' traffic causes ~10 min extra vs Low. The scatter shows distance data needs scaling — haversine fixes this.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Understanding the Metrics: MAE · RMSE · R²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520A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64108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1005840" cy="1261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1005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MAE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89888" y="896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Mean Absolute Error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9888" y="11704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Formula: Average of |Actual − Predicted|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89888" y="138988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Meaning: Average error in minutes. Easy to interpret.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89888" y="16459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</a:rPr>
              <a:t>→ MAE = 3.17 min → model is wrong by ~3 min on average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950976"/>
            <a:ext cx="3383280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95097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Lower is better 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11887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Best: 3.168 (XGBoost)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12848"/>
            <a:ext cx="864108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12848"/>
            <a:ext cx="1005840" cy="1261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12848"/>
            <a:ext cx="1005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RMSE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89888" y="2267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Root Mean Squared Error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89888" y="25420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Formula: √ Average of (Actual − Predicted)²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89888" y="276148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Meaning: Penalizes large errors more. Sensitive to outliers.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89888" y="30175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</a:rPr>
              <a:t>→ RMSE = 3.98 min → slightly higher than MAE = some big errors exist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2322576"/>
            <a:ext cx="3383280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32257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Lower is better 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25603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Best: 3.978 (XGBoost)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84448"/>
            <a:ext cx="864108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E8520A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584448"/>
            <a:ext cx="1005840" cy="1261872"/>
          </a:xfrm>
          <a:prstGeom prst="rect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84448"/>
            <a:ext cx="1005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R²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89888" y="3639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R-Squared (Coefficient of Determination)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89888" y="39136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Formula: 1 − (SS_residual / SS_total)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89888" y="413308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Meaning: % of variance explained. Max = 1.0 (perfect).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89888" y="43891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520A"/>
                </a:solidFill>
              </a:rPr>
              <a:t>→ R² = 0.82 → model explains 82% of delivery time variation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3694176"/>
            <a:ext cx="3383280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369417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20A"/>
                </a:solidFill>
              </a:rPr>
              <a:t>Higher is better ↑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39319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Best: 0.8195 (XGBoost)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ML Pipeline — 8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520A"/>
                </a:solidFill>
              </a:rPr>
              <a:t>Methodology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932688"/>
            <a:ext cx="502920" cy="502920"/>
          </a:xfrm>
          <a:prstGeom prst="ellipse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50876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Load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86537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train.csv + test.csv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Shape, dtypes, NaN check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32304" y="84124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932688"/>
            <a:ext cx="502920" cy="502920"/>
          </a:xfrm>
          <a:prstGeom prst="ellipse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23744" y="150876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Clean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23744" y="186537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Strip spaces, fix target column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'(min) 24' → 24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08576" y="84124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30952" y="932688"/>
            <a:ext cx="502920" cy="502920"/>
          </a:xfrm>
          <a:prstGeom prst="ellipse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0952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0016" y="150876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Feature Engg.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0016" y="186537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Haversine dist from GPS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Extract order_hour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84848" y="84124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07224" y="932688"/>
            <a:ext cx="502920" cy="502920"/>
          </a:xfrm>
          <a:prstGeom prst="ellipse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07224" y="932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76288" y="150876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Encode+Scale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186537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LabelEncode 6 cat cols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StandardScaler → LinReg only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299008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8408" y="3081528"/>
            <a:ext cx="502920" cy="502920"/>
          </a:xfrm>
          <a:prstGeom prst="ellipse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365760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80/20 Split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" y="401421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~36K train / ~9K val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random_state=42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32304" y="299008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3081528"/>
            <a:ext cx="502920" cy="502920"/>
          </a:xfrm>
          <a:prstGeom prst="ellipse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523744" y="365760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Train Models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23744" y="401421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LinReg·DecTree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RandForest·XGBoost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08576" y="299008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30952" y="3081528"/>
            <a:ext cx="502920" cy="502920"/>
          </a:xfrm>
          <a:prstGeom prst="ellipse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30952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00016" y="365760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Evaluate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0016" y="401421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MAE, RMSE, R²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Compare all 4 models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84848" y="299008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07224" y="3081528"/>
            <a:ext cx="502920" cy="502920"/>
          </a:xfrm>
          <a:prstGeom prst="ellipse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07224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76288" y="365760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Predict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76288" y="4014216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XGBoost on test set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Save submission CSV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Models &amp; Hyperparameters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520A"/>
                </a:solidFill>
              </a:rPr>
              <a:t>Training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206240" cy="1993392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420624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Linear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261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Default (no regularization)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5361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Scaling: StandardScaler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1261872"/>
            <a:ext cx="1389888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280160"/>
            <a:ext cx="129844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LinearRegression()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4048" y="23774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Baseline · Assumes linear relationship · Fastest to train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841248"/>
            <a:ext cx="4206240" cy="199339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841248"/>
            <a:ext cx="420624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41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 Tree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18888" y="1261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max_depth=8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18888" y="15361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min_samples_leaf=20, random_state=42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06640" y="1261872"/>
            <a:ext cx="1389888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1280160"/>
            <a:ext cx="129844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DecisionTreeRegressor(max_depth=8,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min_samples_leaf=20)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18888" y="23774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Captures non-linearity · Can overfit · Interpretable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990088"/>
            <a:ext cx="4206240" cy="1993392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90088"/>
            <a:ext cx="420624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90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" y="34107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n_estimators=100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36850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random_state=42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71800" y="3410712"/>
            <a:ext cx="1389888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3429000"/>
            <a:ext cx="129844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RandomForestRegressor(n_estimators=100,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random_state=42)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4048" y="45262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Ensemble of 100 trees · Reduces variance · No scaling needed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990088"/>
            <a:ext cx="4206240" cy="1993392"/>
          </a:xfrm>
          <a:prstGeom prst="rect">
            <a:avLst/>
          </a:prstGeom>
          <a:solidFill>
            <a:srgbClr val="FFFFFF"/>
          </a:solidFill>
          <a:ln w="25400">
            <a:solidFill>
              <a:srgbClr val="E8520A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990088"/>
            <a:ext cx="4206240" cy="365760"/>
          </a:xfrm>
          <a:prstGeom prst="rect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990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XGBoost 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18888" y="34107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n_estimators=200, lr=0.05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888" y="36850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max_depth=6, subsample=0.8, colsample_bytree=0.8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06640" y="3410712"/>
            <a:ext cx="1389888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3429000"/>
            <a:ext cx="129844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XGBRegressor(n_estimators=200,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learning_rate=0.05, max_depth=6,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subsample=0.8)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18888" y="45262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Gradient boosting + regularization · Best performer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Graph 3 — Feature Importance (Random Forest)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520A"/>
                </a:solidFill>
              </a:rPr>
              <a:t>Key ML Concept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94360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804672"/>
            <a:ext cx="2560320" cy="3977640"/>
          </a:xfrm>
          <a:prstGeom prst="rect">
            <a:avLst/>
          </a:prstGeom>
          <a:solidFill>
            <a:srgbClr val="1A1A2E"/>
          </a:solidFill>
          <a:ln w="19050">
            <a:solidFill>
              <a:srgbClr val="E8520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6520" y="8778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520A"/>
                </a:solidFill>
              </a:rPr>
              <a:t>📌 What is Feature Importance?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46520" y="1371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Measures how much each feature contributes to reducing prediction error across all trees in the Random Forest.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4652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Top Predictors: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46520" y="2423160"/>
            <a:ext cx="2377440" cy="301752"/>
          </a:xfrm>
          <a:prstGeom prst="rect">
            <a:avLst/>
          </a:prstGeom>
          <a:solidFill>
            <a:srgbClr val="0A102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423160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4560"/>
                </a:solidFill>
              </a:rPr>
              <a:t>1. Delivery_person_Ratings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183880" y="2423160"/>
            <a:ext cx="594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</a:rPr>
              <a:t>0.212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46520" y="2770632"/>
            <a:ext cx="2377440" cy="301752"/>
          </a:xfrm>
          <a:prstGeom prst="rect">
            <a:avLst/>
          </a:prstGeom>
          <a:solidFill>
            <a:srgbClr val="0A102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770632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4560"/>
                </a:solidFill>
              </a:rPr>
              <a:t>2. distance_km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183880" y="2770632"/>
            <a:ext cx="594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</a:rPr>
              <a:t>0.173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46520" y="3118104"/>
            <a:ext cx="2377440" cy="301752"/>
          </a:xfrm>
          <a:prstGeom prst="rect">
            <a:avLst/>
          </a:prstGeom>
          <a:solidFill>
            <a:srgbClr val="0A1020"/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3118104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4560"/>
                </a:solidFill>
              </a:rPr>
              <a:t>3. Weatherconditions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183880" y="3118104"/>
            <a:ext cx="594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</a:rPr>
              <a:t>0.153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46520" y="3465576"/>
            <a:ext cx="2377440" cy="301752"/>
          </a:xfrm>
          <a:prstGeom prst="rect">
            <a:avLst/>
          </a:prstGeom>
          <a:solidFill>
            <a:srgbClr val="0A1020"/>
          </a:solidFill>
          <a:ln w="6350">
            <a:solidFill>
              <a:srgbClr val="E8520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3465576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520A"/>
                </a:solidFill>
              </a:rPr>
              <a:t>4. Road_traffic_density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183880" y="3465576"/>
            <a:ext cx="594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520A"/>
                </a:solidFill>
              </a:rPr>
              <a:t>0.135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46520" y="3813048"/>
            <a:ext cx="2377440" cy="301752"/>
          </a:xfrm>
          <a:prstGeom prst="rect">
            <a:avLst/>
          </a:prstGeom>
          <a:solidFill>
            <a:srgbClr val="0A1020"/>
          </a:solidFill>
          <a:ln w="6350">
            <a:solidFill>
              <a:srgbClr val="E8520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92240" y="3813048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520A"/>
                </a:solidFill>
              </a:rPr>
              <a:t>5. multiple_deliveries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183880" y="3813048"/>
            <a:ext cx="594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520A"/>
                </a:solidFill>
              </a:rPr>
              <a:t>0.121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46520" y="4160520"/>
            <a:ext cx="2377440" cy="301752"/>
          </a:xfrm>
          <a:prstGeom prst="rect">
            <a:avLst/>
          </a:prstGeom>
          <a:solidFill>
            <a:srgbClr val="0A1020"/>
          </a:solidFill>
          <a:ln w="6350">
            <a:solidFill>
              <a:srgbClr val="E8520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4160520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520A"/>
                </a:solidFill>
              </a:rPr>
              <a:t>6. Delivery_person_Age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183880" y="4160520"/>
            <a:ext cx="594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520A"/>
                </a:solidFill>
              </a:rPr>
              <a:t>0.094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4652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Color: Red &gt; 0.15  ·  Orange &gt; 0.08  ·  Blue ≤ 0.08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Graph 4 — Decision Tree Structure (Top 3 Levels)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520A"/>
                </a:solidFill>
              </a:rPr>
              <a:t>Model Insight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864108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20A"/>
                </a:solidFill>
              </a:rPr>
              <a:t>How to read this: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4078224"/>
            <a:ext cx="8641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Each node shows: Split condition  |  MSE (error)  |  Samples  |  Mean value. Darker = lower error. Tree goes max_depth=8 levels deep.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Graph 5 — XGBoost: Actual vs Predicted &amp; Residuals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520A"/>
                </a:solidFill>
              </a:rPr>
              <a:t>Best Model Analysis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658368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95160" y="804672"/>
            <a:ext cx="1920240" cy="3566160"/>
          </a:xfrm>
          <a:prstGeom prst="rect">
            <a:avLst/>
          </a:prstGeom>
          <a:solidFill>
            <a:srgbClr val="1A1A2E"/>
          </a:solidFill>
          <a:ln w="19050">
            <a:solidFill>
              <a:srgbClr val="E8520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86600" y="87782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20A"/>
                </a:solidFill>
              </a:rPr>
              <a:t>📌 Reading This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86600" y="129844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20A"/>
                </a:solidFill>
              </a:rPr>
              <a:t>Left plot: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086600" y="150876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Points close to red dashed line = good predictions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86600" y="179222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20A"/>
                </a:solidFill>
              </a:rPr>
              <a:t>Red line: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86600" y="200253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Perfect prediction (Actual = Predicted)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86600" y="228600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20A"/>
                </a:solidFill>
              </a:rPr>
              <a:t>Residuals: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86600" y="249631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Actual − Predicted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86600" y="277977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20A"/>
                </a:solidFill>
              </a:rPr>
              <a:t>Peak at 0: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86600" y="29900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Model is mostly unbiased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86600" y="327355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20A"/>
                </a:solidFill>
              </a:rPr>
              <a:t>Normal bell: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086600" y="348386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Errors are well distributed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086600" y="37673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20A"/>
                </a:solidFill>
              </a:rPr>
              <a:t>R² = 0.8195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086600" y="397764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82% variance explained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Graph 6 — All Models Performance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520A"/>
                </a:solidFill>
              </a:rPr>
              <a:t>Results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8641080" cy="306324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50208"/>
          <a:ext cx="8641080" cy="12801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MAE (min)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RMSE (min)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R² Score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Linear Regression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5.629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7.049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0.433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4th 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Decision Tree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3.457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4.381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0.781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3rd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3.213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4.056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0.812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2nd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XGBoost 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3.168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3.978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0.8195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1st 🏆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548640"/>
            <a:ext cx="3200400" cy="3200400"/>
          </a:xfrm>
          <a:prstGeom prst="ellipse">
            <a:avLst/>
          </a:prstGeom>
          <a:solidFill>
            <a:srgbClr val="E8520A">
              <a:alpha val="18000"/>
            </a:srgbClr>
          </a:solidFill>
          <a:ln w="12700">
            <a:solidFill>
              <a:srgbClr val="E8520A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3383280"/>
            <a:ext cx="2286000" cy="2286000"/>
          </a:xfrm>
          <a:prstGeom prst="ellipse">
            <a:avLst/>
          </a:prstGeom>
          <a:solidFill>
            <a:srgbClr val="E94560">
              <a:alpha val="18000"/>
            </a:srgbClr>
          </a:solidFill>
          <a:ln w="12700">
            <a:solidFill>
              <a:srgbClr val="E94560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E8520A"/>
          </a:solidFill>
          <a:ln w="12700">
            <a:solidFill>
              <a:srgbClr val="E85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🏆  XGBoost wins  —  MAE: 3.168 min  |  RMSE: 3.978 min  |  R²: 0.8195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822960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1907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Tree-based models beat Linear Regression because delivery data has non-linear patterns.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822960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7627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Feature engineering (haversine distance, order_hour) gave the model real-world predictive power.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822960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3347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Top features: Delivery_person_Ratings (0.212), distance_km (0.173), Weatherconditions (0.153).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822960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9067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XGBoost's gradient boosting + subsample=0.8 regularization kept overfitting in check.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Future Improvements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2651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05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GridSearchCV / Optuna tuning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4005072"/>
            <a:ext cx="2651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005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Detailed weather (continuous)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4005072"/>
            <a:ext cx="2651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4005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Model stacking / blending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443984"/>
            <a:ext cx="2651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439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Day-of-week &amp; holiday features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4443984"/>
            <a:ext cx="26517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44439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REST API deployment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1866</Words>
  <Application>Microsoft Office PowerPoint</Application>
  <PresentationFormat>On-screen Show (16:9)</PresentationFormat>
  <Paragraphs>351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Time Prediction — Improved</dc:title>
  <dc:subject>PptxGenJS Presentation</dc:subject>
  <dc:creator>PptxGenJS</dc:creator>
  <cp:lastModifiedBy>piyush bhati</cp:lastModifiedBy>
  <cp:revision>3</cp:revision>
  <dcterms:created xsi:type="dcterms:W3CDTF">2026-04-17T18:59:11Z</dcterms:created>
  <dcterms:modified xsi:type="dcterms:W3CDTF">2026-04-18T10:00:04Z</dcterms:modified>
</cp:coreProperties>
</file>